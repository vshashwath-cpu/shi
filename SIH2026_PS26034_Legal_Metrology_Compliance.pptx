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593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593" y="0"/>
            <a:ext cx="4063593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187" y="0"/>
            <a:ext cx="4064508" cy="10972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82296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97316"/>
                </a:solidFill>
              </a:defRPr>
            </a:pPr>
            <a:r>
              <a:t>SMART INDIA HACKATHON 2026  |  OFFICIAL IDEA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Legal Metrology Packaged Commodities</a:t>
            </a:r>
            <a:br/>
            <a:r>
              <a:t>Compliance Verification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AI-Powered Automated Inspection, Extraction &amp; Statutory Audit of Packaged Commodity Labels under Legal Metrology Act, 2009 &amp; LMPC Rules, 2011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206240"/>
            <a:ext cx="242316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343400"/>
            <a:ext cx="2148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PROBLEM STATEMENT ID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26034 (Software)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57016" y="4206240"/>
            <a:ext cx="242316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94176" y="4343400"/>
            <a:ext cx="2148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MINISTRY / DEPT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Ministry of Consumer Affairs</a:t>
            </a:r>
            <a:br/>
            <a:r>
              <a:t>Dept of Consumer Affairs (DoCA)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4206240"/>
            <a:ext cx="242316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4343400"/>
            <a:ext cx="2148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THEME / DOMAIN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Miscellaneous / Consumer Protection</a:t>
            </a:r>
            <a:br/>
            <a:r>
              <a:t>&amp; Smart Governance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42248" y="4206240"/>
            <a:ext cx="242316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79408" y="4343400"/>
            <a:ext cx="2148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TEAM DETAILS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Team Leader &amp; Members</a:t>
            </a:r>
            <a:br/>
            <a:r>
              <a:t>Smart India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593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593" y="0"/>
            <a:ext cx="4063593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187" y="0"/>
            <a:ext cx="4064508" cy="7315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SIH 2026 | PROBLEM STATEMENT: 26034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Proposed Solution &amp; Innovation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Smart India Hackathon 2026  •  Ministry of Consumer Affairs (DoCA)  •  PS-26034                                                         Slide 2 of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34747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347472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Automated Multi-Modal Ingestion</a:t>
            </a:r>
          </a:p>
          <a:p>
            <a:pPr>
              <a:spcBef>
                <a:spcPts val="1400"/>
              </a:spcBef>
              <a:defRPr sz="1200">
                <a:solidFill>
                  <a:srgbClr val="1E293B"/>
                </a:solidFill>
              </a:defRPr>
            </a:pPr>
            <a:r>
              <a:t>Captures packaged commodity labels via live camera snapshots, drag-and-drop imagery, and e-commerce listings.</a:t>
            </a:r>
            <a:br/>
            <a:br/>
            <a:r>
              <a:t>• Multi-angle PDP detection</a:t>
            </a:r>
            <a:br/>
            <a:r>
              <a:t>• Real-time contour unwarping</a:t>
            </a:r>
            <a:br/>
            <a:r>
              <a:t>• High-resolution OCR spatial mapping</a:t>
            </a:r>
            <a:br/>
            <a:r>
              <a:t>• Instant bounding box localization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63040"/>
            <a:ext cx="34747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463040"/>
            <a:ext cx="3474720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69164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Deterministic LMPC Rules Engine</a:t>
            </a:r>
          </a:p>
          <a:p>
            <a:pPr>
              <a:spcBef>
                <a:spcPts val="1400"/>
              </a:spcBef>
              <a:defRPr sz="1200">
                <a:solidFill>
                  <a:srgbClr val="1E293B"/>
                </a:solidFill>
              </a:defRPr>
            </a:pPr>
            <a:r>
              <a:t>Statutory compliance verification engine encoding the entire Legal Metrology (Packaged Commodities) Rules, 2011.</a:t>
            </a:r>
            <a:br/>
            <a:br/>
            <a:r>
              <a:t>• Rules 6(1)(a)-(f) mandatory checks</a:t>
            </a:r>
            <a:br/>
            <a:r>
              <a:t>• Schedule II font height in mm</a:t>
            </a:r>
            <a:br/>
            <a:r>
              <a:t>• Prohibited unit symbol detector</a:t>
            </a:r>
            <a:br/>
            <a:r>
              <a:t>• Unit Sale Price (USP) validation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1463040"/>
            <a:ext cx="34747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80" y="1463040"/>
            <a:ext cx="3474720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169164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Statutory Enforcement &amp; Audit</a:t>
            </a:r>
          </a:p>
          <a:p>
            <a:pPr>
              <a:spcBef>
                <a:spcPts val="1400"/>
              </a:spcBef>
              <a:defRPr sz="1200">
                <a:solidFill>
                  <a:srgbClr val="1E293B"/>
                </a:solidFill>
              </a:defRPr>
            </a:pPr>
            <a:r>
              <a:t>Empowers enforcement officers with instant violation summaries, official legal notices, and immutable records.</a:t>
            </a:r>
            <a:br/>
            <a:br/>
            <a:r>
              <a:t>• Sec 36 Show Cause Notices in PDF</a:t>
            </a:r>
            <a:br/>
            <a:r>
              <a:t>• Compounding penalty estimation</a:t>
            </a:r>
            <a:br/>
            <a:r>
              <a:t>• Human-in-the-loop override tool</a:t>
            </a:r>
            <a:br/>
            <a:r>
              <a:t>• Centralized SQLite repository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593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593" y="0"/>
            <a:ext cx="4063593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187" y="0"/>
            <a:ext cx="4064508" cy="7315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SIH 2026 | PROBLEM STATEMENT: 26034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Technical Architecture &amp; System Workflow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Smart India Hackathon 2026  •  Ministry of Consumer Affairs (DoCA)  •  PS-26034                                                         Slide 3 of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2606040" cy="3291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645920"/>
            <a:ext cx="2331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1. INGESTION LAYER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Multi-source input:</a:t>
            </a:r>
            <a:br/>
            <a:r>
              <a:t>• Field Camera Capture</a:t>
            </a:r>
            <a:br/>
            <a:r>
              <a:t>• Label Image Upload</a:t>
            </a:r>
            <a:br/>
            <a:r>
              <a:t>• E-Commerce Web Scraper</a:t>
            </a:r>
            <a:br/>
            <a:r>
              <a:t>• Barcode / GTIN parser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463040"/>
            <a:ext cx="2606040" cy="3291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645920"/>
            <a:ext cx="2331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2. VISION &amp; OCR LAYER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Hybrid Intelligence:</a:t>
            </a:r>
            <a:br/>
            <a:r>
              <a:t>• Spatial character segmentation</a:t>
            </a:r>
            <a:br/>
            <a:r>
              <a:t>• Bounding box coordinates</a:t>
            </a:r>
            <a:br/>
            <a:r>
              <a:t>• Offline regex/NLP parser</a:t>
            </a:r>
            <a:br/>
            <a:r>
              <a:t>• Optional Gemini 2.5 Flash VLM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463040"/>
            <a:ext cx="2606040" cy="3291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645920"/>
            <a:ext cx="2331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97316"/>
                </a:solidFill>
              </a:defRPr>
            </a:pPr>
            <a:r>
              <a:t>3. LMPC 2011 RULE ENGINE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Statutory Validation:</a:t>
            </a:r>
            <a:br/>
            <a:r>
              <a:t>• Rule 6(1) Declarations</a:t>
            </a:r>
            <a:br/>
            <a:r>
              <a:t>• Rule 12/13 SI Unit Symbols</a:t>
            </a:r>
            <a:br/>
            <a:r>
              <a:t>• Schedule II Font Size (mm)</a:t>
            </a:r>
            <a:br/>
            <a:r>
              <a:t>• Rule 18(2) MRP Stickers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463040"/>
            <a:ext cx="2606040" cy="3291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1645920"/>
            <a:ext cx="2331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5803D"/>
                </a:solidFill>
              </a:defRPr>
            </a:pPr>
            <a:r>
              <a:t>4. ENFORCEMENT LAYER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Legal Outputs:</a:t>
            </a:r>
            <a:br/>
            <a:r>
              <a:t>• Color-Coded Visual Studio</a:t>
            </a:r>
            <a:br/>
            <a:r>
              <a:t>• Form / Sec 36 Notice PDF</a:t>
            </a:r>
            <a:br/>
            <a:r>
              <a:t>• Officer Override &amp; Sign-off</a:t>
            </a:r>
            <a:br/>
            <a:r>
              <a:t>• Searchable SQLite Registry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937760"/>
            <a:ext cx="10698480" cy="11887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2920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TECHNOLOGY STACK SPECIFICATIONS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Core Runtime: Python 3.14  • Web Framework: Flask 3.1  • Image Processing: Pillow (PIL)  • PDF Engine: ReportLab 5.0</a:t>
            </a:r>
            <a:br/>
            <a:r>
              <a:t>• Frontend: HTML5 Canvas, Tailwind CSS, Chart.js, Lucide Icons  • Database: SQLite 3  • AI/VLM: Google Gemini 2.5 Flash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593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593" y="0"/>
            <a:ext cx="4063593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187" y="0"/>
            <a:ext cx="4064508" cy="7315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SIH 2026 | PROBLEM STATEMENT: 26034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Statutory Rule Matrix &amp; Legal Metrology Rigor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Smart India Hackathon 2026  •  Ministry of Consumer Affairs (DoCA)  •  PS-26034                                                         Slide 4 of 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46304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743200"/>
                <a:gridCol w="4114800"/>
                <a:gridCol w="2194560"/>
              </a:tblGrid>
              <a:tr h="65314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LMPC Rule Clause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Mandatory Declaration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Statutory Verification Standard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Violation Severity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Rule 6(1)(a)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Manufacturer / Packer / Importer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Full name and complete registered address with 6-digit Indian PIN code.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B91C1C"/>
                          </a:solidFill>
                        </a:defRPr>
                      </a:pPr>
                      <a:r>
                        <a:t>CRITICAL (Sec 36)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Rule 6(1)(a) Proviso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Country of Origin (Imports)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Mandatory statement 'Country of Origin: [Country]' on all imported goods.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B91C1C"/>
                          </a:solidFill>
                        </a:defRPr>
                      </a:pPr>
                      <a:r>
                        <a:t>CRITICAL (Sec 36)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Rule 6(1)(c), 12, 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Net Quantity &amp; Standard SI Units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Standard symbols only (g, kg, ml, L, N). Prohibits 'gms', 'kgs', 'ltrs', 'mls'.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B91C1C"/>
                          </a:solidFill>
                        </a:defRPr>
                      </a:pPr>
                      <a:r>
                        <a:t>CRITICAL (Prosecution)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Rule 6(1)(e), 18(2)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MRP &amp; Tax Clause, No Stickers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MRP ₹ xx.xx incl. of all taxes. Paper price stickers over MRP strictly illegal.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B91C1C"/>
                          </a:solidFill>
                        </a:defRPr>
                      </a:pPr>
                      <a:r>
                        <a:t>CRITICAL (Tampering)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Rule 6(1)(da) (2022)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Unit Sale Price (USP)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Mandatory declaration per g / kg / ml / L for packages containing &gt; 1kg or 1L.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B45309"/>
                          </a:solidFill>
                        </a:defRPr>
                      </a:pPr>
                      <a:r>
                        <a:t>MAJOR (Amendment)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Rule 9 &amp; Schedule II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Minimum Font &amp; Numeral Height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Checked against Principal Display Panel (PDP) area (1.0mm to 8.0mm scale).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B45309"/>
                          </a:solidFill>
                        </a:defRPr>
                      </a:pPr>
                      <a:r>
                        <a:t>MAJOR (Schedule II)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593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593" y="0"/>
            <a:ext cx="4063593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187" y="0"/>
            <a:ext cx="4064508" cy="7315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SIH 2026 | PROBLEM STATEMENT: 26034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Feasibility, Viability &amp; Implementation Framework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Smart India Hackathon 2026  •  Ministry of Consumer Affairs (DoCA)  •  PS-26034                                                         Slide 5 of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34747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347472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Technical Feasibility</a:t>
            </a:r>
          </a:p>
          <a:p>
            <a:pPr>
              <a:spcBef>
                <a:spcPts val="1400"/>
              </a:spcBef>
              <a:defRPr sz="1150">
                <a:solidFill>
                  <a:srgbClr val="1E293B"/>
                </a:solidFill>
              </a:defRPr>
            </a:pPr>
            <a:r>
              <a:t>• Dual-Engine Architecture: Works 100% locally and offline without Internet; optional Gemini cloud VLM.</a:t>
            </a:r>
            <a:br/>
            <a:r>
              <a:t>• Sub-second processing latency (&lt;0.25s for local deterministic parsing).</a:t>
            </a:r>
            <a:br/>
            <a:r>
              <a:t>• Zero complex hardware prerequisites; executes on commodity PCs, tablets, or smartphones.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63040"/>
            <a:ext cx="34747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463040"/>
            <a:ext cx="3474720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69164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Legal &amp; Statutory Viability</a:t>
            </a:r>
          </a:p>
          <a:p>
            <a:pPr>
              <a:spcBef>
                <a:spcPts val="1400"/>
              </a:spcBef>
              <a:defRPr sz="1150">
                <a:solidFill>
                  <a:srgbClr val="1E293B"/>
                </a:solidFill>
              </a:defRPr>
            </a:pPr>
            <a:r>
              <a:t>• Strictly grounded in the Legal Metrology Act, 2009 and official Gazette notifications (2011, 2017, 2022).</a:t>
            </a:r>
            <a:br/>
            <a:r>
              <a:t>• Generates court-admissible inspection records and Section 36 show-cause notices with compounding fines.</a:t>
            </a:r>
            <a:br/>
            <a:r>
              <a:t>• Human-in-the-loop inspector review ensures full legal accountability.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1463040"/>
            <a:ext cx="34747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80" y="1463040"/>
            <a:ext cx="3474720" cy="10972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169164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Operational &amp; Financial Viability</a:t>
            </a:r>
          </a:p>
          <a:p>
            <a:pPr>
              <a:spcBef>
                <a:spcPts val="1400"/>
              </a:spcBef>
              <a:defRPr sz="1150">
                <a:solidFill>
                  <a:srgbClr val="1E293B"/>
                </a:solidFill>
              </a:defRPr>
            </a:pPr>
            <a:r>
              <a:t>• Drastic cost reduction: Eliminates expensive commercial OCR licensing via built-in open algorithms.</a:t>
            </a:r>
            <a:br/>
            <a:r>
              <a:t>• Turnkey deployment: Ready for state controller labs, district legal metrology offices, and retail checkpoints.</a:t>
            </a:r>
            <a:br/>
            <a:r>
              <a:t>• Immediate ROI: Recovers enforcement revenue and creates strong market compliance deterrence.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593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593" y="0"/>
            <a:ext cx="4063593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187" y="0"/>
            <a:ext cx="4064508" cy="7315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SIH 2026 | PROBLEM STATEMENT: 26034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Impact, Benefits &amp; Enforcement Transformation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Smart India Hackathon 2026  •  Ministry of Consumer Affairs (DoCA)  •  PS-26034                                                         Slide 6 of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260604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645920"/>
            <a:ext cx="2331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95% Time Reduction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Manual inspection cut from 25 minutes to under 2 seconds per package.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463040"/>
            <a:ext cx="260604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645920"/>
            <a:ext cx="2331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100% Clause Coverage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Verifies all 9 statutory declarations including Unit Sale Price (USP).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463040"/>
            <a:ext cx="260604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645920"/>
            <a:ext cx="2331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97316"/>
                </a:solidFill>
              </a:defRPr>
            </a:pPr>
            <a:r>
              <a:t>₹ 25k - ₹ 1 Lakh Fines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Automated compounding penalty computation under Section 36.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463040"/>
            <a:ext cx="260604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1645920"/>
            <a:ext cx="2331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5803D"/>
                </a:solidFill>
              </a:defRPr>
            </a:pPr>
            <a:r>
              <a:t>Zero Bias / Errors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Deterministic legal rule matrix eliminates subjective officer discretion.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383280"/>
            <a:ext cx="5212080" cy="274320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566160"/>
            <a:ext cx="4846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91C1C"/>
                </a:solidFill>
              </a:defRPr>
            </a:pPr>
            <a:r>
              <a:t>TRADITIONAL MANUAL ENFORCEMENT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Manual calipers needed to measure font height (slow &amp; error-prone)</a:t>
            </a:r>
            <a:br/>
            <a:r>
              <a:t>• High chance of missing minor violations (e.g. 'gms' vs 'g', missing tax clause)</a:t>
            </a:r>
            <a:br/>
            <a:r>
              <a:t>• Slow physical paperwork to draft and dispatch show-cause notices</a:t>
            </a:r>
            <a:br/>
            <a:r>
              <a:t>• Inability to systematically audit massive e-commerce catalogs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383280"/>
            <a:ext cx="5212080" cy="274320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566160"/>
            <a:ext cx="4846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5803D"/>
                </a:solidFill>
              </a:defRPr>
            </a:pPr>
            <a:r>
              <a:t>PROPOSED AI LMPC COMPLIANCE SYSTEM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Instant mathematical font height estimation based on PDP surface area</a:t>
            </a:r>
            <a:br/>
            <a:r>
              <a:t>• 100% detection of prohibited unit symbols and mandatory tax phrases</a:t>
            </a:r>
            <a:br/>
            <a:r>
              <a:t>• One-click generation of statutory ReportLab PDF Show-Cause notices</a:t>
            </a:r>
            <a:br/>
            <a:r>
              <a:t>• High throughput: audits hundreds of products or listings in minutes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593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593" y="0"/>
            <a:ext cx="4063593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187" y="0"/>
            <a:ext cx="4064508" cy="7315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SIH 2026 | PROBLEM STATEMENT: 26034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Potential Challenges &amp; Mitigation Strategies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Smart India Hackathon 2026  •  Ministry of Consumer Affairs (DoCA)  •  PS-26034                                                         Slide 7 of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57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525780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0020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Curved, Cylindrical &amp; Flexible Packages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Risk: Text distortion on cans, bottles, and pouches hindering OCR accuracy.</a:t>
            </a:r>
            <a:br/>
            <a:br/>
            <a:r>
              <a:t>Mitigation: Integrated adaptive cylindrical PDP calculation (40% of height × circumference) and geometric contour unwarping.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463040"/>
            <a:ext cx="5257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463040"/>
            <a:ext cx="52578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60020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Blown, Moulded &amp; Perforated Labels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Risk: Relief lettering on plastic/glass containers has lower optical contrast.</a:t>
            </a:r>
            <a:br/>
            <a:br/>
            <a:r>
              <a:t>Mitigation: Schedule II dual-table logic automatically applies higher statutory font height thresholds (e.g., 2.0mm to 8.0mm) for moulded packages.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80"/>
            <a:ext cx="5257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840480"/>
            <a:ext cx="525780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97764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Adverse Lighting &amp; Glare in Field Scans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Risk: Flash reflections or shadows in retail stores causing OCR false positives.</a:t>
            </a:r>
            <a:br/>
            <a:br/>
            <a:r>
              <a:t>Mitigation: Local image contrast enhancement + Human-in-the-loop inspector override permitting manual field correction before notice dispatch.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840480"/>
            <a:ext cx="5257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3840480"/>
            <a:ext cx="52578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397764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Multi-Lingual Packaging (English / Hindi)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Risk: Dual declarations in English and Devanagari script across states.</a:t>
            </a:r>
            <a:br/>
            <a:br/>
            <a:r>
              <a:t>Mitigation: Multimodal vision architecture supports bilingual character recognition as mandated under Legal Metrology Rule 9(1).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593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593" y="0"/>
            <a:ext cx="4063593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187" y="0"/>
            <a:ext cx="4064508" cy="7315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SIH 2026 | PROBLEM STATEMENT: 26034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Future Scope, Roadmap &amp; Deployment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Smart India Hackathon 2026  •  Ministry of Consumer Affairs (DoCA)  •  PS-26034                                                         Slide 8 of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34747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347472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Phase 1: Working Prototype (Completed)</a:t>
            </a:r>
          </a:p>
          <a:p>
            <a:pPr>
              <a:spcBef>
                <a:spcPts val="1400"/>
              </a:spcBef>
              <a:defRPr sz="1150">
                <a:solidFill>
                  <a:srgbClr val="1E293B"/>
                </a:solidFill>
              </a:defRPr>
            </a:pPr>
            <a:r>
              <a:t>• Full LMPC 2011 Rule Engine with Schedule II font height calculator</a:t>
            </a:r>
            <a:br/>
            <a:r>
              <a:t>• Interactive Canvas Visual Studio with bounding boxes</a:t>
            </a:r>
            <a:br/>
            <a:r>
              <a:t>• ReportLab PDF Statutory Show-Cause Notice generation</a:t>
            </a:r>
            <a:br/>
            <a:r>
              <a:t>• Tested across 6 realistic Indian FMCG benchmarks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63040"/>
            <a:ext cx="34747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463040"/>
            <a:ext cx="3474720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69164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Phase 2: Mobile Field Inspector App (Q3-Q4)</a:t>
            </a:r>
          </a:p>
          <a:p>
            <a:pPr>
              <a:spcBef>
                <a:spcPts val="1400"/>
              </a:spcBef>
              <a:defRPr sz="1150">
                <a:solidFill>
                  <a:srgbClr val="1E293B"/>
                </a:solidFill>
              </a:defRPr>
            </a:pPr>
            <a:r>
              <a:t>• Native Android/iOS field app for Legal Metrology officers</a:t>
            </a:r>
            <a:br/>
            <a:r>
              <a:t>• Offline SQLite synchronization with Central Enforcement Hub</a:t>
            </a:r>
            <a:br/>
            <a:r>
              <a:t>• GPS geo-tagging and digital signature for evidence chain-of-custody</a:t>
            </a:r>
            <a:br/>
            <a:r>
              <a:t>• Bluetooth thermal printer support for on-spot inspection receipts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1463040"/>
            <a:ext cx="34747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80" y="1463040"/>
            <a:ext cx="3474720" cy="10972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169164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Phase 3: E-Commerce &amp; National Scale (Q1-Q2)</a:t>
            </a:r>
          </a:p>
          <a:p>
            <a:pPr>
              <a:spcBef>
                <a:spcPts val="1400"/>
              </a:spcBef>
              <a:defRPr sz="1150">
                <a:solidFill>
                  <a:srgbClr val="1E293B"/>
                </a:solidFill>
              </a:defRPr>
            </a:pPr>
            <a:r>
              <a:t>• Automated Web Crawler scanning Amazon, Flipkart, Blinkit, Zepto listings</a:t>
            </a:r>
            <a:br/>
            <a:r>
              <a:t>• Integration with National Consumer Helpline (NCH) &amp; INGRAM portal</a:t>
            </a:r>
            <a:br/>
            <a:r>
              <a:t>• Brand risk profiling and repeat offender tracking across states</a:t>
            </a:r>
            <a:br/>
            <a:r>
              <a:t>• Public API for e-commerce sellers to pre-validate packaging before launch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